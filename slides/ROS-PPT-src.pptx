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59" r:id="rId8"/>
    <p:sldId id="260" r:id="rId9"/>
    <p:sldId id="263" r:id="rId10"/>
    <p:sldId id="265" r:id="rId11"/>
    <p:sldId id="264" r:id="rId12"/>
    <p:sldId id="262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宋体"/>
        <a:ea typeface="宋体"/>
        <a:cs typeface="宋体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预计授课 10 分钟（0:00–0:45），本页 45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授课对象是机协大一理工科新生和大二成员，预计总时长10分钟。设想一台带摄像头和轮子的普通机器人，前方出现箱子，需要减速并绕开。请听众指出获取图像和轮子运动之间需要什么软件工作。不同程序需要传递数据与指令，ROS帮助建立这种协作关系。无需展开具体避障算法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当前 ROS_10分钟授课教案.md 中的教学示例与复习题。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0:45–2:30，本页 105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ROS是Robot Operating System的缩写，是用于机器人开发的开源软件生态，提供通信框架、开发工具和软件库。左侧用手机或电脑作类比：应用依靠操作系统使用计算机资源。右侧展示机器人：功能程序使用ROS协作，计算机仍由Linux等底层系统管理。ROS不是Linux、Android或Windows的直接替代品。也可以不用ROS自行编写机器人软件，只是复杂项目需要自行处理更多通信和集成。不要把安装ROS理解成自动获得导航能力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https://github.com/ros2/ros2_documentation/blob/rolling/source/About-ROS.rst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2:30–3:15，本页 45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节点是ROS中运行起来、负责某项功能并参与通信的软件单元。入门时可以先把它理解成机器人里负责一项工作的程序。这里用三个节点分工。强调摄像头是硬件，摄像头节点是使用它的软件。节点和硬件不必一一对应。分开开发后，每项功能更容易单独调试和替换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https://github.com/ros2/ros2_documentation/blob/rolling/source/ROS-Framework/About-Nodes.rst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2:30–3:15，本页 45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节点是ROS中运行起来、负责某项功能并参与通信的软件单元。入门时可以先把它理解成机器人里负责一项工作的程序。这里用三个节点分工。强调摄像头是硬件，摄像头节点是使用它的软件。节点和硬件不必一一对应。分开开发后，每项功能更容易单独调试和替换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https://github.com/ros2/ros2_documentation/blob/rolling/source/ROS-Framework/About-Nodes.rst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3:15–4:10，本页 55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先解释消息是一份具体数据，例如一帧图像。话题是有名称的数据通道，图像话题可以叫/camera/image。发布是向话题发送消息。订阅是声明要接收话题中的消息，节点收到新消息后进行处理。沿两条箭头讲：摄像头节点发布图像消息，障碍判断节点订阅并接收图像消息。话题是通信通道，不是保存数据的文件。图中的方框用于概念示意，并不表示话题是独立程序。话题名是本课的示例约定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https://github.com/ros2/ros2_documentation/blob/rolling/source/ROS-Framework/interfaces/About-Topics.rst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4:10–4:30，本页 20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如果新增一个显示画面的节点，只需要让它也订阅图像话题。摄像头节点继续按原来的方式发送图像，不用在代码里逐个指定接收者。这个例子说明发布订阅让功能模块更容易扩展。提问摄像头发什么、障碍判断程序收什么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https://github.com/ros2/ros2_documentation/blob/rolling/source/ROS-Framework/interfaces/About-Topics.rst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6:00–7:00，本页 60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沿信息流讲一遍。摄像头节点发布图像，障碍判断节点订阅图像、进行判断并发布运动指令，底盘控制节点订阅运动指令，调用硬件驱动让轮子运动。障碍判断节点可以同时是订阅者和发布者。发布者和订阅者需要约定话题名、消息类型及数据含义。图像获取、障碍判断和底盘控制是教学上的简化划分。实际避障策略需要传感器数据和算法验证，ROS本身不会自动求出障碍位置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https://github.com/ros2/ros2_documentation/blob/rolling/source/ROS-Framework/About-Nodes.rst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https://github.com/ros2/ros2_documentation/blob/rolling/source/ROS-Framework/interfaces/About-Topics.rst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https://github.com/ros2/ros2_documentation/blob/rolling/source/ROS-Framework/client-libraries/About-Internal-Interfaces/About-Internal-Interfaces.rst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8:00–9:25，本页 85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自己的代码放在自己创建的工作空间中，通常在src下的某个软件包里。强调不要去修改ROS安装目录。逐层读目录：robot_ws是工作空间，src存放软件包，my_robot是自己的包。package.xml描述包信息和依赖，节点源码中写自己的程序。还可以有启动配置和构建配置。目录中的中文名称是内容类别示意，实际文件名随语言、模板和构建工具调整。写好后在工作空间构建，再运行节点。一个软件包可以包含多个节点。结合上一页，指出障碍判断程序在这里编写，运行时成为参与通信的节点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https://github.com/ros2/ros2_documentation/blob/rolling/source/ROS-Framework/client-libraries/Working-with-Client-Libraries/Creating-Your-First-ROS2-Package.rst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7:00–8:00，本页 60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开发者可以用Python或C++写节点，使用ROS提供的接口创建订阅者和发布者。以自己编写的障碍判断节点为例，节点收到图像后执行判断，再发出运动指令。红色部分是自己编写或集成的算法和策略，输入输出通过ROS通信连接其他节点。ROS负责传递消息，但算法效果和指令含义要由开发者验证。底盘控制节点要通过适配的硬件驱动连接电机。这里只说明程序结构，不演示具体接口和命令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https://github.com/ros2/ros2_documentation/blob/rolling/source/ROS-Framework/client-libraries/About-Internal-Interfaces/About-Internal-Interfaces.rst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5:20–6:00，本页 40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介绍ROS的其他帮助。启动文件让多个节点一起运行，参数用于调整节点行为，例如处理频率。查看话题、日志和录制数据，能够判断有没有收到图像、有没有发出指令。复用现成驱动和导航软件包可以减少重复开发，但需要检查硬件兼容性。ROS提供协作机制，障碍识别和绕行算法仍要自己编写或选择合适的软件包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https://github.com/ros2/ros2_documentation/blob/rolling/source/About-ROS.rst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宋体"/>
                <a:ea typeface="宋体"/>
                <a:cs typeface="宋体"/>
              </a:rPr>
              <a:t>9:25–10:00，本页 35 秒。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三个问题可让听众快速口头回答，或请大家在心里判断。1：ROS和Linux是否是同一种东西？回答：Linux等系统负责底层运行，ROS提供机器人开发通信、工具和软件生态。2：障碍判断节点订阅什么、发布什么？回答：订阅图像，处理后发布运动指令。3：自己的代码通常写在哪里？回答：在自己的工作空间中的软件包里，运行时作为节点参与通信。最后说：ROS帮助我们把机器人软件分成能协作的部分，再用共同接口和工具组织起来。</a:t>
            </a:r>
          </a:p>
          <a:p/>
          <a:p>
            <a:r>
              <a:rPr>
                <a:latin typeface="宋体"/>
                <a:ea typeface="宋体"/>
                <a:cs typeface="宋体"/>
              </a:rPr>
              <a:t>资料来源：</a:t>
            </a:r>
          </a:p>
          <a:p>
            <a:r>
              <a:rPr>
                <a:latin typeface="宋体"/>
                <a:ea typeface="宋体"/>
                <a:cs typeface="宋体"/>
              </a:rPr>
              <a:t>当前 ROS_10分钟授课教案.md 中的教学示例与复习题。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宋体"/>
          <a:ea typeface="宋体"/>
          <a:cs typeface="宋体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宋体"/>
          <a:ea typeface="宋体"/>
          <a:cs typeface="宋体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宋体"/>
          <a:ea typeface="宋体"/>
          <a:cs typeface="宋体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宋体"/>
          <a:ea typeface="宋体"/>
          <a:cs typeface="宋体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宋体"/>
          <a:ea typeface="宋体"/>
          <a:cs typeface="宋体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1pPr>
      <a:lvl2pPr marL="4572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2pPr>
      <a:lvl3pPr marL="9144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3pPr>
      <a:lvl4pPr marL="13716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4pPr>
      <a:lvl5pPr marL="18288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5pPr>
      <a:lvl6pPr marL="22860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6pPr>
      <a:lvl7pPr marL="27432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7pPr>
      <a:lvl8pPr marL="32004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8pPr>
      <a:lvl9pPr marL="3657600" algn="l">
        <a:buNone/>
        <a:defRPr sz="1800">
          <a:solidFill>
            <a:schemeClr val="tx1"/>
          </a:solidFill>
          <a:latin typeface="宋体"/>
          <a:ea typeface="宋体"/>
          <a:cs typeface="宋体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 入门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subtitle"/>
          <p:cNvSpPr>
            <a:spLocks noGrp="1"/>
          </p:cNvSpPr>
          <p:nvPr/>
        </p:nvSpPr>
        <p:spPr>
          <a:xfrm>
            <a:off x="609600" y="145732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36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机器人软件怎样组织起来</a:t>
            </a:r>
            <a:endParaRPr sz="36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case"/>
          <p:cNvSpPr>
            <a:spLocks noGrp="1"/>
          </p:cNvSpPr>
          <p:nvPr/>
        </p:nvSpPr>
        <p:spPr>
          <a:xfrm>
            <a:off x="609600" y="23812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设想</a:t>
            </a:r>
            <a:r>
              <a:rPr lang="en-US" altLang="zh-CN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：</a:t>
            </a: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一台带摄像头和轮子的机器人遇到前方的箱子</a:t>
            </a:r>
            <a:r>
              <a:rPr lang="en-US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  <a:r>
              <a:rPr lang="zh-CN" altLang="en-US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它该如何避障</a:t>
            </a:r>
            <a:r>
              <a:rPr lang="en-US" altLang="zh-CN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？</a:t>
            </a:r>
            <a:endParaRPr lang="en-US" altLang="zh-CN"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capture"/>
          <p:cNvSpPr>
            <a:spLocks noGrp="1"/>
          </p:cNvSpPr>
          <p:nvPr/>
        </p:nvSpPr>
        <p:spPr>
          <a:xfrm>
            <a:off x="685800" y="3429000"/>
            <a:ext cx="27051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获取画面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reason"/>
          <p:cNvSpPr>
            <a:spLocks noGrp="1"/>
          </p:cNvSpPr>
          <p:nvPr/>
        </p:nvSpPr>
        <p:spPr>
          <a:xfrm>
            <a:off x="4743450" y="3429000"/>
            <a:ext cx="27051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判断障碍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drive"/>
          <p:cNvSpPr>
            <a:spLocks noGrp="1"/>
          </p:cNvSpPr>
          <p:nvPr/>
        </p:nvSpPr>
        <p:spPr>
          <a:xfrm>
            <a:off x="8801100" y="3429000"/>
            <a:ext cx="27051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驱动轮子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2" name="Straight Arrow Connector 21"/>
          <p:cNvCxnSpPr>
            <a:stCxn id="7" idx="3"/>
            <a:endCxn id="8" idx="1"/>
          </p:cNvCxnSpPr>
          <p:nvPr/>
        </p:nvCxnSpPr>
        <p:spPr>
          <a:xfrm>
            <a:off x="3390900" y="3933825"/>
            <a:ext cx="13525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3" name="Straight Arrow Connector 22"/>
          <p:cNvCxnSpPr>
            <a:stCxn id="8" idx="3"/>
            <a:endCxn id="9" idx="1"/>
          </p:cNvCxnSpPr>
          <p:nvPr/>
        </p:nvCxnSpPr>
        <p:spPr>
          <a:xfrm>
            <a:off x="7448550" y="3933825"/>
            <a:ext cx="13525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sp>
        <p:nvSpPr>
          <p:cNvPr id="12" name="question"/>
          <p:cNvSpPr>
            <a:spLocks noGrp="1"/>
          </p:cNvSpPr>
          <p:nvPr/>
        </p:nvSpPr>
        <p:spPr>
          <a:xfrm>
            <a:off x="609600" y="502920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5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这些功能怎样共享数据、传递指令？</a:t>
            </a:r>
            <a:endParaRPr sz="25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何为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 ROS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definition"/>
          <p:cNvSpPr>
            <a:spLocks noGrp="1"/>
          </p:cNvSpPr>
          <p:nvPr/>
        </p:nvSpPr>
        <p:spPr>
          <a:xfrm>
            <a:off x="609600" y="142875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 = Robot Operating System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用于机器人开发的开源软件生态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computer-label"/>
          <p:cNvSpPr>
            <a:spLocks noGrp="1"/>
          </p:cNvSpPr>
          <p:nvPr/>
        </p:nvSpPr>
        <p:spPr>
          <a:xfrm>
            <a:off x="704850" y="24765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手机／电脑</a:t>
            </a:r>
            <a:endParaRPr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robot-label"/>
          <p:cNvSpPr>
            <a:spLocks noGrp="1"/>
          </p:cNvSpPr>
          <p:nvPr/>
        </p:nvSpPr>
        <p:spPr>
          <a:xfrm>
            <a:off x="6610350" y="2476500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机器人计算机</a:t>
            </a:r>
            <a:endParaRPr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apps"/>
          <p:cNvSpPr>
            <a:spLocks noGrp="1"/>
          </p:cNvSpPr>
          <p:nvPr/>
        </p:nvSpPr>
        <p:spPr>
          <a:xfrm>
            <a:off x="704850" y="3048000"/>
            <a:ext cx="4857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应用程序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os"/>
          <p:cNvSpPr>
            <a:spLocks noGrp="1"/>
          </p:cNvSpPr>
          <p:nvPr/>
        </p:nvSpPr>
        <p:spPr>
          <a:xfrm>
            <a:off x="704850" y="4029075"/>
            <a:ext cx="4857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Android／Windows／Linux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pc-hardware"/>
          <p:cNvSpPr>
            <a:spLocks noGrp="1"/>
          </p:cNvSpPr>
          <p:nvPr/>
        </p:nvSpPr>
        <p:spPr>
          <a:xfrm>
            <a:off x="704850" y="5010150"/>
            <a:ext cx="4857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计算机硬件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31" name="Straight Arrow Connector 30"/>
          <p:cNvCxnSpPr>
            <a:stCxn id="8" idx="2"/>
            <a:endCxn id="9" idx="0"/>
          </p:cNvCxnSpPr>
          <p:nvPr/>
        </p:nvCxnSpPr>
        <p:spPr>
          <a:xfrm>
            <a:off x="3133725" y="3714750"/>
            <a:ext cx="0" cy="314325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32" name="Straight Arrow Connector 31"/>
          <p:cNvCxnSpPr>
            <a:stCxn id="9" idx="2"/>
            <a:endCxn id="10" idx="0"/>
          </p:cNvCxnSpPr>
          <p:nvPr/>
        </p:nvCxnSpPr>
        <p:spPr>
          <a:xfrm>
            <a:off x="3133725" y="4695825"/>
            <a:ext cx="0" cy="314325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3" name="robot-apps"/>
          <p:cNvSpPr>
            <a:spLocks noGrp="1"/>
          </p:cNvSpPr>
          <p:nvPr/>
        </p:nvSpPr>
        <p:spPr>
          <a:xfrm>
            <a:off x="6610350" y="2952750"/>
            <a:ext cx="485775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摄像头、判断、运动程序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ros-layer"/>
          <p:cNvSpPr>
            <a:spLocks noGrp="1"/>
          </p:cNvSpPr>
          <p:nvPr/>
        </p:nvSpPr>
        <p:spPr>
          <a:xfrm>
            <a:off x="6610350" y="3705225"/>
            <a:ext cx="485775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ROS：通信框架、工具和软件库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robot-os"/>
          <p:cNvSpPr>
            <a:spLocks noGrp="1"/>
          </p:cNvSpPr>
          <p:nvPr/>
        </p:nvSpPr>
        <p:spPr>
          <a:xfrm>
            <a:off x="6610350" y="4457700"/>
            <a:ext cx="485775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Linux 等底层操作系统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6" name="robot-hardware"/>
          <p:cNvSpPr>
            <a:spLocks noGrp="1"/>
          </p:cNvSpPr>
          <p:nvPr/>
        </p:nvSpPr>
        <p:spPr>
          <a:xfrm>
            <a:off x="6610350" y="5210175"/>
            <a:ext cx="485775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计算机硬件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37" name="Straight Arrow Connector 36"/>
          <p:cNvCxnSpPr>
            <a:stCxn id="13" idx="2"/>
            <a:endCxn id="14" idx="0"/>
          </p:cNvCxnSpPr>
          <p:nvPr/>
        </p:nvCxnSpPr>
        <p:spPr>
          <a:xfrm>
            <a:off x="9039225" y="3524250"/>
            <a:ext cx="0" cy="180975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38" name="Straight Arrow Connector 37"/>
          <p:cNvCxnSpPr>
            <a:stCxn id="14" idx="2"/>
            <a:endCxn id="15" idx="0"/>
          </p:cNvCxnSpPr>
          <p:nvPr/>
        </p:nvCxnSpPr>
        <p:spPr>
          <a:xfrm>
            <a:off x="9039225" y="4276725"/>
            <a:ext cx="0" cy="180975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39" name="Straight Arrow Connector 38"/>
          <p:cNvCxnSpPr>
            <a:stCxn id="15" idx="2"/>
            <a:endCxn id="16" idx="0"/>
          </p:cNvCxnSpPr>
          <p:nvPr/>
        </p:nvCxnSpPr>
        <p:spPr>
          <a:xfrm>
            <a:off x="9039225" y="5029200"/>
            <a:ext cx="0" cy="180975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20" name="os-distinction"/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lang="en-US"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与</a:t>
            </a:r>
            <a:r>
              <a:rPr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底层系统管理计算机资源</a:t>
            </a:r>
            <a:r>
              <a:rPr lang="en-US"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有所不同</a:t>
            </a:r>
            <a:r>
              <a:rPr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，ROS </a:t>
            </a:r>
            <a:r>
              <a:rPr lang="en-US"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主要</a:t>
            </a:r>
            <a:r>
              <a:rPr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帮助机器人程序协作</a:t>
            </a:r>
            <a:r>
              <a:rPr lang="en-US" sz="2025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，高效连接组织各部分。</a:t>
            </a:r>
            <a:endParaRPr lang="en-US" sz="2025" b="0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几个关键基础</a:t>
            </a:r>
            <a:r>
              <a:rPr lang="zh-CN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概念</a:t>
            </a:r>
            <a:endParaRPr lang="zh-CN"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definition"/>
          <p:cNvSpPr>
            <a:spLocks noGrp="1"/>
          </p:cNvSpPr>
          <p:nvPr/>
        </p:nvSpPr>
        <p:spPr>
          <a:xfrm>
            <a:off x="609600" y="2277110"/>
            <a:ext cx="10972800" cy="2811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节点：负责一项工作的软件单元</a:t>
            </a:r>
            <a:endParaRPr lang="zh-CN" altLang="en-US"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消息：一次传递的一份数据，例如一帧图像</a:t>
            </a:r>
            <a:endParaRPr>
              <a:latin typeface="宋体"/>
              <a:ea typeface="宋体"/>
              <a:cs typeface="宋体"/>
              <a:sym typeface="宋体"/>
            </a:endParaRPr>
          </a:p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>
                <a:latin typeface="宋体"/>
                <a:ea typeface="宋体"/>
                <a:cs typeface="宋体"/>
                <a:sym typeface="宋体"/>
              </a:rPr>
              <a:t>话题：有名字的数据通道</a:t>
            </a:r>
            <a:endParaRPr lang="zh-CN" altLang="en-US">
              <a:latin typeface="宋体"/>
              <a:ea typeface="宋体"/>
              <a:cs typeface="宋体"/>
              <a:sym typeface="宋体"/>
            </a:endParaRPr>
          </a:p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>
                <a:latin typeface="宋体"/>
                <a:ea typeface="宋体"/>
                <a:cs typeface="宋体"/>
                <a:sym typeface="宋体"/>
              </a:rPr>
              <a:t>发布</a:t>
            </a:r>
            <a:r>
              <a:rPr lang="en-US" altLang="zh-CN"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发送消息</a:t>
            </a:r>
            <a:r>
              <a:rPr lang="zh-CN">
                <a:latin typeface="宋体"/>
                <a:ea typeface="宋体"/>
                <a:cs typeface="宋体"/>
                <a:sym typeface="宋体"/>
              </a:rPr>
              <a:t>到某个话题</a:t>
            </a:r>
            <a:endParaRPr lang="zh-CN">
              <a:latin typeface="宋体"/>
              <a:ea typeface="宋体"/>
              <a:cs typeface="宋体"/>
              <a:sym typeface="宋体"/>
            </a:endParaRPr>
          </a:p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>
                <a:latin typeface="宋体"/>
                <a:ea typeface="宋体"/>
                <a:cs typeface="宋体"/>
                <a:sym typeface="宋体"/>
              </a:rPr>
              <a:t>订阅</a:t>
            </a:r>
            <a:r>
              <a:rPr lang="en-US" altLang="zh-CN"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rPr lang="zh-CN" altLang="en-US">
                <a:latin typeface="宋体"/>
                <a:ea typeface="宋体"/>
                <a:cs typeface="宋体"/>
                <a:sym typeface="宋体"/>
              </a:rPr>
              <a:t>接收</a:t>
            </a:r>
            <a:r>
              <a:rPr lang="zh-CN" altLang="en-US">
                <a:latin typeface="宋体"/>
                <a:ea typeface="宋体"/>
                <a:cs typeface="宋体"/>
                <a:sym typeface="宋体"/>
              </a:rPr>
              <a:t>某个话题</a:t>
            </a:r>
            <a:r>
              <a:rPr lang="zh-CN" altLang="en-US">
                <a:latin typeface="宋体"/>
                <a:ea typeface="宋体"/>
                <a:cs typeface="宋体"/>
                <a:sym typeface="宋体"/>
              </a:rPr>
              <a:t>的消息</a:t>
            </a:r>
            <a:endParaRPr lang="zh-CN" altLang="en-US"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indent="0" algn="l" fontAlgn="auto">
              <a:lnSpc>
                <a:spcPct val="150000"/>
              </a:lnSpc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endParaRPr lang="zh-CN" altLang="en-US"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节点：负责一项工作的软件单元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definition"/>
          <p:cNvSpPr>
            <a:spLocks noGrp="1"/>
          </p:cNvSpPr>
          <p:nvPr/>
        </p:nvSpPr>
        <p:spPr>
          <a:xfrm>
            <a:off x="609600" y="157162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节点运行起来，完成一项功能，并与其他节点通信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node-0"/>
          <p:cNvSpPr>
            <a:spLocks noGrp="1"/>
          </p:cNvSpPr>
          <p:nvPr/>
        </p:nvSpPr>
        <p:spPr>
          <a:xfrm>
            <a:off x="685800" y="2895600"/>
            <a:ext cx="31623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摄像头节点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job-0"/>
          <p:cNvSpPr>
            <a:spLocks noGrp="1"/>
          </p:cNvSpPr>
          <p:nvPr/>
        </p:nvSpPr>
        <p:spPr>
          <a:xfrm>
            <a:off x="685800" y="4219575"/>
            <a:ext cx="31623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读取摄像头画面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node-1"/>
          <p:cNvSpPr>
            <a:spLocks noGrp="1"/>
          </p:cNvSpPr>
          <p:nvPr/>
        </p:nvSpPr>
        <p:spPr>
          <a:xfrm>
            <a:off x="4514850" y="2895600"/>
            <a:ext cx="31623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障碍判断节点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job-1"/>
          <p:cNvSpPr>
            <a:spLocks noGrp="1"/>
          </p:cNvSpPr>
          <p:nvPr/>
        </p:nvSpPr>
        <p:spPr>
          <a:xfrm>
            <a:off x="4514850" y="4219575"/>
            <a:ext cx="31623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分析前方障碍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node-2"/>
          <p:cNvSpPr>
            <a:spLocks noGrp="1"/>
          </p:cNvSpPr>
          <p:nvPr/>
        </p:nvSpPr>
        <p:spPr>
          <a:xfrm>
            <a:off x="8343900" y="2895600"/>
            <a:ext cx="31623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底盘控制节点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1" name="job-2"/>
          <p:cNvSpPr>
            <a:spLocks noGrp="1"/>
          </p:cNvSpPr>
          <p:nvPr/>
        </p:nvSpPr>
        <p:spPr>
          <a:xfrm>
            <a:off x="8343900" y="4219575"/>
            <a:ext cx="31623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接收指令并调用驱动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difference"/>
          <p:cNvSpPr>
            <a:spLocks noGrp="1"/>
          </p:cNvSpPr>
          <p:nvPr/>
        </p:nvSpPr>
        <p:spPr>
          <a:xfrm>
            <a:off x="609600" y="54673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摄像头是硬件，摄像头节点</a:t>
            </a:r>
            <a:r>
              <a:rPr 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可以</a:t>
            </a:r>
            <a:r>
              <a:rPr lang="en-US" alt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理解为</a:t>
            </a:r>
            <a:r>
              <a:rPr 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是</a:t>
            </a: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使用它的软件</a:t>
            </a:r>
            <a:endParaRPr sz="2400" b="0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消息、话题、发布与订阅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message"/>
          <p:cNvSpPr>
            <a:spLocks noGrp="1"/>
          </p:cNvSpPr>
          <p:nvPr/>
        </p:nvSpPr>
        <p:spPr>
          <a:xfrm>
            <a:off x="609600" y="15430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消息：一次传递的一份数据，例如一帧图像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camera"/>
          <p:cNvSpPr>
            <a:spLocks noGrp="1"/>
          </p:cNvSpPr>
          <p:nvPr/>
        </p:nvSpPr>
        <p:spPr>
          <a:xfrm>
            <a:off x="685800" y="3095625"/>
            <a:ext cx="28575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摄像头节点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topic"/>
          <p:cNvSpPr>
            <a:spLocks noGrp="1"/>
          </p:cNvSpPr>
          <p:nvPr/>
        </p:nvSpPr>
        <p:spPr>
          <a:xfrm>
            <a:off x="4591050" y="3095625"/>
            <a:ext cx="30099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图像话题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1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/camera/image</a:t>
            </a:r>
            <a:endParaRPr sz="21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subscriber"/>
          <p:cNvSpPr>
            <a:spLocks noGrp="1"/>
          </p:cNvSpPr>
          <p:nvPr/>
        </p:nvSpPr>
        <p:spPr>
          <a:xfrm>
            <a:off x="8648700" y="3095625"/>
            <a:ext cx="28575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障碍判断节点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4" name="Straight Arrow Connector 23"/>
          <p:cNvCxnSpPr>
            <a:stCxn id="6" idx="3"/>
            <a:endCxn id="7" idx="1"/>
          </p:cNvCxnSpPr>
          <p:nvPr/>
        </p:nvCxnSpPr>
        <p:spPr>
          <a:xfrm>
            <a:off x="3543300" y="3629025"/>
            <a:ext cx="10477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5" name="Straight Arrow Connector 24"/>
          <p:cNvCxnSpPr>
            <a:stCxn id="7" idx="3"/>
            <a:endCxn id="8" idx="1"/>
          </p:cNvCxnSpPr>
          <p:nvPr/>
        </p:nvCxnSpPr>
        <p:spPr>
          <a:xfrm>
            <a:off x="7600950" y="3629025"/>
            <a:ext cx="10477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sp>
        <p:nvSpPr>
          <p:cNvPr id="11" name="publishing"/>
          <p:cNvSpPr>
            <a:spLocks noGrp="1"/>
          </p:cNvSpPr>
          <p:nvPr/>
        </p:nvSpPr>
        <p:spPr>
          <a:xfrm>
            <a:off x="3606165" y="3141345"/>
            <a:ext cx="95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发布</a:t>
            </a:r>
            <a:endParaRPr sz="22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subscribing"/>
          <p:cNvSpPr>
            <a:spLocks noGrp="1"/>
          </p:cNvSpPr>
          <p:nvPr/>
        </p:nvSpPr>
        <p:spPr>
          <a:xfrm>
            <a:off x="7639050" y="3121660"/>
            <a:ext cx="95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订阅</a:t>
            </a:r>
            <a:endParaRPr sz="22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publish-definition"/>
          <p:cNvSpPr>
            <a:spLocks noGrp="1"/>
          </p:cNvSpPr>
          <p:nvPr/>
        </p:nvSpPr>
        <p:spPr>
          <a:xfrm>
            <a:off x="588010" y="4364990"/>
            <a:ext cx="295529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endParaRPr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>
                <a:latin typeface="宋体"/>
                <a:ea typeface="宋体"/>
                <a:cs typeface="宋体"/>
                <a:sym typeface="宋体"/>
              </a:rPr>
              <a:t>把拍到的图片</a:t>
            </a:r>
            <a:r>
              <a:rPr lang="en-US" altLang="zh-CN">
                <a:latin typeface="宋体"/>
                <a:ea typeface="宋体"/>
                <a:cs typeface="宋体"/>
                <a:sym typeface="宋体"/>
              </a:rPr>
              <a:t>（消息）</a:t>
            </a:r>
            <a:r>
              <a:rPr lang="zh-CN">
                <a:latin typeface="宋体"/>
                <a:ea typeface="宋体"/>
                <a:cs typeface="宋体"/>
                <a:sym typeface="宋体"/>
              </a:rPr>
              <a:t>传给图像话题</a:t>
            </a:r>
            <a:endParaRPr lang="zh-CN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endParaRPr lang="zh-CN"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subscribe-definition"/>
          <p:cNvSpPr>
            <a:spLocks noGrp="1"/>
          </p:cNvSpPr>
          <p:nvPr/>
        </p:nvSpPr>
        <p:spPr>
          <a:xfrm>
            <a:off x="8616315" y="4304665"/>
            <a:ext cx="295529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接收</a:t>
            </a:r>
            <a:r>
              <a:rPr lang="zh-CN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图像话题里的</a:t>
            </a:r>
            <a:r>
              <a:rPr lang="zh-CN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图片</a:t>
            </a:r>
            <a:endParaRPr lang="zh-CN"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topic-definition"/>
          <p:cNvSpPr>
            <a:spLocks noGrp="1"/>
          </p:cNvSpPr>
          <p:nvPr/>
        </p:nvSpPr>
        <p:spPr>
          <a:xfrm>
            <a:off x="598805" y="20193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话题：有名字的数据通道</a:t>
            </a:r>
            <a:endParaRPr sz="2400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同一个话题，可以有多个</a:t>
            </a:r>
            <a:r>
              <a:rPr lang="en-US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发布者和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订阅者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camera"/>
          <p:cNvSpPr>
            <a:spLocks noGrp="1"/>
          </p:cNvSpPr>
          <p:nvPr/>
        </p:nvSpPr>
        <p:spPr>
          <a:xfrm>
            <a:off x="685800" y="3105150"/>
            <a:ext cx="25908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摄像头节点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topic"/>
          <p:cNvSpPr>
            <a:spLocks noGrp="1"/>
          </p:cNvSpPr>
          <p:nvPr/>
        </p:nvSpPr>
        <p:spPr>
          <a:xfrm>
            <a:off x="4533900" y="3105150"/>
            <a:ext cx="260985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图像话题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obstacle"/>
          <p:cNvSpPr>
            <a:spLocks noGrp="1"/>
          </p:cNvSpPr>
          <p:nvPr/>
        </p:nvSpPr>
        <p:spPr>
          <a:xfrm>
            <a:off x="8801100" y="2133600"/>
            <a:ext cx="27051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障碍判断节点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display"/>
          <p:cNvSpPr>
            <a:spLocks noGrp="1"/>
          </p:cNvSpPr>
          <p:nvPr/>
        </p:nvSpPr>
        <p:spPr>
          <a:xfrm>
            <a:off x="8801100" y="4114800"/>
            <a:ext cx="2705100" cy="100965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画面显示节点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1" name="Straight Arrow Connector 20"/>
          <p:cNvCxnSpPr>
            <a:stCxn id="5" idx="3"/>
            <a:endCxn id="6" idx="1"/>
          </p:cNvCxnSpPr>
          <p:nvPr/>
        </p:nvCxnSpPr>
        <p:spPr>
          <a:xfrm>
            <a:off x="3276600" y="3609975"/>
            <a:ext cx="125730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2" name="Elbow Connector 21"/>
          <p:cNvCxnSpPr>
            <a:stCxn id="6" idx="3"/>
            <a:endCxn id="7" idx="1"/>
          </p:cNvCxnSpPr>
          <p:nvPr/>
        </p:nvCxnSpPr>
        <p:spPr>
          <a:xfrm flipV="1">
            <a:off x="7143750" y="2638425"/>
            <a:ext cx="1657350" cy="971550"/>
          </a:xfrm>
          <a:prstGeom prst="bentConnector3">
            <a:avLst>
              <a:gd name="adj1" fmla="val 50000"/>
            </a:avLst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3" name="Elbow Connector 22"/>
          <p:cNvCxnSpPr>
            <a:stCxn id="6" idx="3"/>
            <a:endCxn id="8" idx="1"/>
          </p:cNvCxnSpPr>
          <p:nvPr/>
        </p:nvCxnSpPr>
        <p:spPr>
          <a:xfrm>
            <a:off x="7143750" y="3609975"/>
            <a:ext cx="1657350" cy="1009650"/>
          </a:xfrm>
          <a:prstGeom prst="bentConnector3">
            <a:avLst>
              <a:gd name="adj1" fmla="val 50000"/>
            </a:avLst>
          </a:prstGeom>
          <a:ln w="28575">
            <a:solidFill>
              <a:srgbClr val="0000CC"/>
            </a:solidFill>
            <a:tailEnd type="triangle" w="med" len="med"/>
          </a:ln>
        </p:spPr>
      </p:cxnSp>
      <p:sp>
        <p:nvSpPr>
          <p:cNvPr id="11" name="publishing"/>
          <p:cNvSpPr>
            <a:spLocks noGrp="1"/>
          </p:cNvSpPr>
          <p:nvPr/>
        </p:nvSpPr>
        <p:spPr>
          <a:xfrm>
            <a:off x="3429000" y="3141345"/>
            <a:ext cx="95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发布</a:t>
            </a:r>
            <a:endParaRPr sz="22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subscribing"/>
          <p:cNvSpPr>
            <a:spLocks noGrp="1"/>
          </p:cNvSpPr>
          <p:nvPr/>
        </p:nvSpPr>
        <p:spPr>
          <a:xfrm>
            <a:off x="7896225" y="2158365"/>
            <a:ext cx="95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订阅</a:t>
            </a:r>
            <a:endParaRPr sz="22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subscribing"/>
          <p:cNvSpPr>
            <a:spLocks noGrp="1"/>
          </p:cNvSpPr>
          <p:nvPr/>
        </p:nvSpPr>
        <p:spPr>
          <a:xfrm>
            <a:off x="7896225" y="4669790"/>
            <a:ext cx="95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25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订阅</a:t>
            </a:r>
            <a:endParaRPr sz="225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ion"/>
          <p:cNvSpPr>
            <a:spLocks noGrp="1"/>
          </p:cNvSpPr>
          <p:nvPr/>
        </p:nvSpPr>
        <p:spPr>
          <a:xfrm>
            <a:off x="623570" y="552069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400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如果多个来源可能冲突，需要程序自行协调。</a:t>
            </a:r>
            <a:endParaRPr lang="zh-CN" altLang="en-US" sz="2400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中的完整信息流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camera"/>
          <p:cNvSpPr>
            <a:spLocks noGrp="1"/>
          </p:cNvSpPr>
          <p:nvPr/>
        </p:nvSpPr>
        <p:spPr>
          <a:xfrm>
            <a:off x="685800" y="2571750"/>
            <a:ext cx="2743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摄像头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decision"/>
          <p:cNvSpPr>
            <a:spLocks noGrp="1"/>
          </p:cNvSpPr>
          <p:nvPr/>
        </p:nvSpPr>
        <p:spPr>
          <a:xfrm>
            <a:off x="4724400" y="2571750"/>
            <a:ext cx="2743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障碍判断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base"/>
          <p:cNvSpPr>
            <a:spLocks noGrp="1"/>
          </p:cNvSpPr>
          <p:nvPr/>
        </p:nvSpPr>
        <p:spPr>
          <a:xfrm>
            <a:off x="8763000" y="2571750"/>
            <a:ext cx="274320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底盘控制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</a:t>
            </a:r>
            <a:endParaRPr sz="240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4" name="Straight Arrow Connector 23"/>
          <p:cNvCxnSpPr>
            <a:stCxn id="5" idx="3"/>
            <a:endCxn id="6" idx="1"/>
          </p:cNvCxnSpPr>
          <p:nvPr/>
        </p:nvCxnSpPr>
        <p:spPr>
          <a:xfrm>
            <a:off x="3429000" y="3124200"/>
            <a:ext cx="129540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5" name="Straight Arrow Connector 24"/>
          <p:cNvCxnSpPr>
            <a:stCxn id="6" idx="3"/>
            <a:endCxn id="7" idx="1"/>
          </p:cNvCxnSpPr>
          <p:nvPr/>
        </p:nvCxnSpPr>
        <p:spPr>
          <a:xfrm>
            <a:off x="7467600" y="3124200"/>
            <a:ext cx="129540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sp>
        <p:nvSpPr>
          <p:cNvPr id="10" name="image-topic"/>
          <p:cNvSpPr>
            <a:spLocks noGrp="1"/>
          </p:cNvSpPr>
          <p:nvPr/>
        </p:nvSpPr>
        <p:spPr>
          <a:xfrm>
            <a:off x="3381375" y="2686050"/>
            <a:ext cx="13906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图像话题</a:t>
            </a:r>
            <a:endParaRPr sz="2100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1" name="motion-topic"/>
          <p:cNvSpPr>
            <a:spLocks noGrp="1"/>
          </p:cNvSpPr>
          <p:nvPr/>
        </p:nvSpPr>
        <p:spPr>
          <a:xfrm>
            <a:off x="7448550" y="2571750"/>
            <a:ext cx="125920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运动指令话题</a:t>
            </a:r>
            <a:endParaRPr sz="2025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wheels"/>
          <p:cNvSpPr>
            <a:spLocks noGrp="1"/>
          </p:cNvSpPr>
          <p:nvPr/>
        </p:nvSpPr>
        <p:spPr>
          <a:xfrm>
            <a:off x="8763000" y="4743450"/>
            <a:ext cx="2743200" cy="72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轮子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9" name="Straight Arrow Connector 28"/>
          <p:cNvCxnSpPr>
            <a:stCxn id="7" idx="2"/>
            <a:endCxn id="12" idx="0"/>
          </p:cNvCxnSpPr>
          <p:nvPr/>
        </p:nvCxnSpPr>
        <p:spPr>
          <a:xfrm>
            <a:off x="10134600" y="3676650"/>
            <a:ext cx="0" cy="106680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4" name="driver-label"/>
          <p:cNvSpPr>
            <a:spLocks noGrp="1"/>
          </p:cNvSpPr>
          <p:nvPr/>
        </p:nvSpPr>
        <p:spPr>
          <a:xfrm>
            <a:off x="10306050" y="3924300"/>
            <a:ext cx="1295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硬件驱动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decision-role"/>
          <p:cNvSpPr>
            <a:spLocks noGrp="1"/>
          </p:cNvSpPr>
          <p:nvPr/>
        </p:nvSpPr>
        <p:spPr>
          <a:xfrm>
            <a:off x="685800" y="4219575"/>
            <a:ext cx="67627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如</a:t>
            </a: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障碍判断节点：</a:t>
            </a:r>
            <a:endParaRPr sz="2400" b="0">
              <a:solidFill>
                <a:srgbClr val="CC0000"/>
              </a:solidFill>
              <a:latin typeface="宋体"/>
              <a:ea typeface="宋体"/>
              <a:cs typeface="宋体"/>
            </a:endParaRPr>
          </a:p>
          <a:p>
            <a:pPr algn="l">
              <a:defRPr sz="2400" b="0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订阅图像，</a:t>
            </a:r>
            <a:r>
              <a:rPr 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靠程序判断后</a:t>
            </a:r>
            <a:r>
              <a:rPr lang="en-US" altLang="zh-CN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，</a:t>
            </a: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再发布运动指令</a:t>
            </a:r>
            <a:endParaRPr sz="2400" b="0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我的代码写在哪里</a:t>
            </a:r>
            <a:r>
              <a:rPr lang="en-US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（粗览ROS文件系统）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？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location"/>
          <p:cNvSpPr>
            <a:spLocks noGrp="1"/>
          </p:cNvSpPr>
          <p:nvPr/>
        </p:nvSpPr>
        <p:spPr>
          <a:xfrm>
            <a:off x="609600" y="14382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代码放在自己的工作空间中，使用自己的软件包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path-0"/>
          <p:cNvSpPr>
            <a:spLocks noGrp="1"/>
          </p:cNvSpPr>
          <p:nvPr/>
        </p:nvSpPr>
        <p:spPr>
          <a:xfrm>
            <a:off x="838200" y="227647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CarProject</a:t>
            </a: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/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explain-0"/>
          <p:cNvSpPr>
            <a:spLocks noGrp="1"/>
          </p:cNvSpPr>
          <p:nvPr/>
        </p:nvSpPr>
        <p:spPr>
          <a:xfrm>
            <a:off x="6534150" y="22764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项目的</a:t>
            </a: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工作空间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path-1"/>
          <p:cNvSpPr>
            <a:spLocks noGrp="1"/>
          </p:cNvSpPr>
          <p:nvPr/>
        </p:nvSpPr>
        <p:spPr>
          <a:xfrm>
            <a:off x="1295400" y="2724150"/>
            <a:ext cx="4210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src/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explain-1"/>
          <p:cNvSpPr>
            <a:spLocks noGrp="1"/>
          </p:cNvSpPr>
          <p:nvPr/>
        </p:nvSpPr>
        <p:spPr>
          <a:xfrm>
            <a:off x="6534150" y="2724150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存放软件包</a:t>
            </a:r>
            <a:r>
              <a:rPr lang="en-US"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的代码空间</a:t>
            </a:r>
            <a:endParaRPr lang="en-US"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path-2"/>
          <p:cNvSpPr>
            <a:spLocks noGrp="1"/>
          </p:cNvSpPr>
          <p:nvPr/>
        </p:nvSpPr>
        <p:spPr>
          <a:xfrm>
            <a:off x="1752600" y="3171825"/>
            <a:ext cx="3752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lang="en-US" sz="21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package</a:t>
            </a:r>
            <a:r>
              <a:rPr sz="21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/</a:t>
            </a:r>
            <a:endParaRPr sz="21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1" name="explain-2"/>
          <p:cNvSpPr>
            <a:spLocks noGrp="1"/>
          </p:cNvSpPr>
          <p:nvPr/>
        </p:nvSpPr>
        <p:spPr>
          <a:xfrm>
            <a:off x="6534150" y="317182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软件包</a:t>
            </a:r>
            <a:endParaRPr sz="2100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path-3"/>
          <p:cNvSpPr>
            <a:spLocks noGrp="1"/>
          </p:cNvSpPr>
          <p:nvPr/>
        </p:nvSpPr>
        <p:spPr>
          <a:xfrm>
            <a:off x="2209800" y="3619500"/>
            <a:ext cx="3295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package.xml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explain-3"/>
          <p:cNvSpPr>
            <a:spLocks noGrp="1"/>
          </p:cNvSpPr>
          <p:nvPr/>
        </p:nvSpPr>
        <p:spPr>
          <a:xfrm>
            <a:off x="6534150" y="3619500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包信息与依赖</a:t>
            </a: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path-4"/>
          <p:cNvSpPr>
            <a:spLocks noGrp="1"/>
          </p:cNvSpPr>
          <p:nvPr/>
        </p:nvSpPr>
        <p:spPr>
          <a:xfrm>
            <a:off x="2209800" y="4067175"/>
            <a:ext cx="3295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节点源码</a:t>
            </a:r>
            <a:endParaRPr lang="en-US" sz="210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explain-4"/>
          <p:cNvSpPr>
            <a:spLocks noGrp="1"/>
          </p:cNvSpPr>
          <p:nvPr/>
        </p:nvSpPr>
        <p:spPr>
          <a:xfrm>
            <a:off x="6534150" y="4067175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在这里写障碍判断等程序</a:t>
            </a:r>
            <a:endParaRPr sz="2100" b="1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6" name="path-5"/>
          <p:cNvSpPr>
            <a:spLocks noGrp="1"/>
          </p:cNvSpPr>
          <p:nvPr/>
        </p:nvSpPr>
        <p:spPr>
          <a:xfrm>
            <a:off x="2209800" y="4514850"/>
            <a:ext cx="3295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启动配置</a:t>
            </a:r>
            <a:r>
              <a:rPr lang="en-US"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、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构建配置</a:t>
            </a:r>
            <a:r>
              <a:rPr lang="en-US">
                <a:latin typeface="宋体"/>
                <a:ea typeface="宋体"/>
                <a:cs typeface="宋体"/>
                <a:sym typeface="宋体"/>
              </a:rPr>
              <a:t>等等</a:t>
            </a:r>
            <a:endParaRPr lang="en-US" sz="2100" b="0">
              <a:solidFill>
                <a:srgbClr val="000000"/>
              </a:solidFill>
              <a:latin typeface="宋体"/>
              <a:ea typeface="宋体"/>
              <a:cs typeface="宋体"/>
              <a:sym typeface="宋体"/>
            </a:endParaRPr>
          </a:p>
        </p:txBody>
      </p:sp>
      <p:sp>
        <p:nvSpPr>
          <p:cNvPr id="17" name="explain-5"/>
          <p:cNvSpPr>
            <a:spLocks noGrp="1"/>
          </p:cNvSpPr>
          <p:nvPr/>
        </p:nvSpPr>
        <p:spPr>
          <a:xfrm>
            <a:off x="6534150" y="4514850"/>
            <a:ext cx="49720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21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其他一些必要的文件</a:t>
            </a:r>
            <a:endParaRPr lang="en-US"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8" name="path-6"/>
          <p:cNvSpPr>
            <a:spLocks noGrp="1"/>
          </p:cNvSpPr>
          <p:nvPr/>
        </p:nvSpPr>
        <p:spPr>
          <a:xfrm>
            <a:off x="2209800" y="4962525"/>
            <a:ext cx="3295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endParaRPr sz="21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0" name="path-rail-1"/>
          <p:cNvSpPr>
            <a:spLocks noGrp="1"/>
          </p:cNvSpPr>
          <p:nvPr/>
        </p:nvSpPr>
        <p:spPr>
          <a:xfrm>
            <a:off x="1066800" y="2667000"/>
            <a:ext cx="0" cy="257175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1" name="path-link-1"/>
          <p:cNvSpPr>
            <a:spLocks noGrp="1"/>
          </p:cNvSpPr>
          <p:nvPr/>
        </p:nvSpPr>
        <p:spPr>
          <a:xfrm>
            <a:off x="1066800" y="2924175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2" name="path-rail-2"/>
          <p:cNvSpPr>
            <a:spLocks noGrp="1"/>
          </p:cNvSpPr>
          <p:nvPr/>
        </p:nvSpPr>
        <p:spPr>
          <a:xfrm>
            <a:off x="1524000" y="3114675"/>
            <a:ext cx="0" cy="257175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3" name="path-link-2"/>
          <p:cNvSpPr>
            <a:spLocks noGrp="1"/>
          </p:cNvSpPr>
          <p:nvPr/>
        </p:nvSpPr>
        <p:spPr>
          <a:xfrm>
            <a:off x="1524000" y="337185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4" name="path-rail-3"/>
          <p:cNvSpPr>
            <a:spLocks noGrp="1"/>
          </p:cNvSpPr>
          <p:nvPr/>
        </p:nvSpPr>
        <p:spPr>
          <a:xfrm>
            <a:off x="1981200" y="3562350"/>
            <a:ext cx="635" cy="1144905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5" name="path-link-3"/>
          <p:cNvSpPr>
            <a:spLocks noGrp="1"/>
          </p:cNvSpPr>
          <p:nvPr/>
        </p:nvSpPr>
        <p:spPr>
          <a:xfrm>
            <a:off x="1981200" y="3819525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6" name="path-link-4"/>
          <p:cNvSpPr>
            <a:spLocks noGrp="1"/>
          </p:cNvSpPr>
          <p:nvPr/>
        </p:nvSpPr>
        <p:spPr>
          <a:xfrm>
            <a:off x="1981200" y="42672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7" name="path-link-5"/>
          <p:cNvSpPr>
            <a:spLocks noGrp="1"/>
          </p:cNvSpPr>
          <p:nvPr/>
        </p:nvSpPr>
        <p:spPr>
          <a:xfrm>
            <a:off x="1981200" y="4714875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29" name="schematic"/>
          <p:cNvSpPr>
            <a:spLocks noGrp="1"/>
          </p:cNvSpPr>
          <p:nvPr/>
        </p:nvSpPr>
        <p:spPr>
          <a:xfrm>
            <a:off x="609600" y="56102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1875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此</a:t>
            </a:r>
            <a:r>
              <a:rPr sz="1875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目录为示意，实际文件名</a:t>
            </a:r>
            <a:r>
              <a:rPr lang="en-US" sz="1875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和文件数量</a:t>
            </a:r>
            <a:r>
              <a:rPr sz="1875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随语言和项目配置调整</a:t>
            </a:r>
            <a:endParaRPr sz="1875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30" name="run"/>
          <p:cNvSpPr>
            <a:spLocks noGrp="1"/>
          </p:cNvSpPr>
          <p:nvPr/>
        </p:nvSpPr>
        <p:spPr>
          <a:xfrm>
            <a:off x="609600" y="60007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025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写好代码后，在工作空间构建，再启动节点</a:t>
            </a:r>
            <a:endParaRPr sz="2025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我的程序怎样接入 ROS？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language"/>
          <p:cNvSpPr>
            <a:spLocks noGrp="1"/>
          </p:cNvSpPr>
          <p:nvPr/>
        </p:nvSpPr>
        <p:spPr>
          <a:xfrm>
            <a:off x="609600" y="15144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例如</a:t>
            </a:r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使用 Python 或 C++ 编写节点</a:t>
            </a:r>
            <a:endParaRPr sz="240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receive"/>
          <p:cNvSpPr>
            <a:spLocks noGrp="1"/>
          </p:cNvSpPr>
          <p:nvPr/>
        </p:nvSpPr>
        <p:spPr>
          <a:xfrm>
            <a:off x="800100" y="3048000"/>
            <a:ext cx="2857500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通过 ROS 接口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收到图像消息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algorithm"/>
          <p:cNvSpPr>
            <a:spLocks noGrp="1"/>
          </p:cNvSpPr>
          <p:nvPr/>
        </p:nvSpPr>
        <p:spPr>
          <a:xfrm>
            <a:off x="4667250" y="3048000"/>
            <a:ext cx="2857500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latin typeface="宋体"/>
                <a:ea typeface="宋体"/>
                <a:cs typeface="宋体"/>
                <a:sym typeface="宋体"/>
              </a:rPr>
              <a:t>障碍判断节点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</a:t>
            </a: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自己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写</a:t>
            </a: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判断减速或转向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的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代码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）</a:t>
            </a:r>
            <a:endParaRPr lang="en-US"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publish"/>
          <p:cNvSpPr>
            <a:spLocks noGrp="1"/>
          </p:cNvSpPr>
          <p:nvPr/>
        </p:nvSpPr>
        <p:spPr>
          <a:xfrm>
            <a:off x="8534400" y="3048000"/>
            <a:ext cx="2857500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通过 ROS 接口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发布运动指令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21" name="Straight Arrow Connector 20"/>
          <p:cNvCxnSpPr>
            <a:stCxn id="6" idx="3"/>
            <a:endCxn id="7" idx="1"/>
          </p:cNvCxnSpPr>
          <p:nvPr/>
        </p:nvCxnSpPr>
        <p:spPr>
          <a:xfrm>
            <a:off x="3657600" y="3629025"/>
            <a:ext cx="10096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cxnSp>
        <p:nvCxnSpPr>
          <p:cNvPr id="22" name="Straight Arrow Connector 21"/>
          <p:cNvCxnSpPr>
            <a:stCxn id="7" idx="3"/>
            <a:endCxn id="8" idx="1"/>
          </p:cNvCxnSpPr>
          <p:nvPr/>
        </p:nvCxnSpPr>
        <p:spPr>
          <a:xfrm>
            <a:off x="7524750" y="3629025"/>
            <a:ext cx="1009650" cy="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  <p:sp>
        <p:nvSpPr>
          <p:cNvPr id="11" name="connection"/>
          <p:cNvSpPr>
            <a:spLocks noGrp="1"/>
          </p:cNvSpPr>
          <p:nvPr/>
        </p:nvSpPr>
        <p:spPr>
          <a:xfrm>
            <a:off x="609600" y="49530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0000CC"/>
                </a:solidFill>
                <a:latin typeface="宋体"/>
                <a:ea typeface="宋体"/>
                <a:cs typeface="宋体"/>
              </a:rPr>
              <a:t>ROS 把程序的输入、输出连接到其他节点</a:t>
            </a:r>
            <a:endParaRPr sz="2400" b="0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own-work"/>
          <p:cNvSpPr>
            <a:spLocks noGrp="1"/>
          </p:cNvSpPr>
          <p:nvPr/>
        </p:nvSpPr>
        <p:spPr>
          <a:xfrm>
            <a:off x="609600" y="55816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CC0000"/>
                </a:solidFill>
                <a:latin typeface="宋体"/>
                <a:ea typeface="宋体"/>
                <a:cs typeface="宋体"/>
              </a:defRPr>
            </a:pP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判断算法和运动策略</a:t>
            </a:r>
            <a:r>
              <a:rPr lang="en-US"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等</a:t>
            </a:r>
            <a:r>
              <a:rPr sz="2400" b="0">
                <a:solidFill>
                  <a:srgbClr val="CC0000"/>
                </a:solidFill>
                <a:latin typeface="宋体"/>
                <a:ea typeface="宋体"/>
                <a:cs typeface="宋体"/>
              </a:rPr>
              <a:t>由开发者编写或集成</a:t>
            </a:r>
            <a:endParaRPr sz="2400" b="0">
              <a:solidFill>
                <a:srgbClr val="CC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algorithm"/>
          <p:cNvSpPr>
            <a:spLocks noGrp="1"/>
          </p:cNvSpPr>
          <p:nvPr/>
        </p:nvSpPr>
        <p:spPr>
          <a:xfrm>
            <a:off x="8550275" y="4808220"/>
            <a:ext cx="2857500" cy="116205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240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>
                <a:latin typeface="宋体"/>
                <a:ea typeface="宋体"/>
                <a:cs typeface="宋体"/>
                <a:sym typeface="宋体"/>
              </a:rPr>
              <a:t>底盘控制节点</a:t>
            </a:r>
            <a:endParaRPr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  <a:p>
            <a:pPr algn="ctr">
              <a:defRPr sz="225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（</a:t>
            </a:r>
            <a:r>
              <a:rPr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自己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写控制电机等运动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的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代码</a:t>
            </a:r>
            <a:r>
              <a:rPr lang="en-US" sz="225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）</a:t>
            </a:r>
            <a:endParaRPr lang="en-US" sz="225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cxnSp>
        <p:nvCxnSpPr>
          <p:cNvPr id="10" name="Straight Arrow Connector 9"/>
          <p:cNvCxnSpPr>
            <a:stCxn id="8" idx="2"/>
            <a:endCxn id="9" idx="0"/>
          </p:cNvCxnSpPr>
          <p:nvPr/>
        </p:nvCxnSpPr>
        <p:spPr>
          <a:xfrm>
            <a:off x="9963150" y="4210050"/>
            <a:ext cx="15875" cy="598170"/>
          </a:xfrm>
          <a:prstGeom prst="straightConnector1">
            <a:avLst/>
          </a:prstGeom>
          <a:ln w="28575">
            <a:solidFill>
              <a:srgbClr val="0000CC"/>
            </a:solidFill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那么，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 提供</a:t>
            </a:r>
            <a:r>
              <a:rPr lang="en-US"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了</a:t>
            </a: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哪些帮助？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label-0"/>
          <p:cNvSpPr>
            <a:spLocks noGrp="1"/>
          </p:cNvSpPr>
          <p:nvPr/>
        </p:nvSpPr>
        <p:spPr>
          <a:xfrm>
            <a:off x="685800" y="1809750"/>
            <a:ext cx="2628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启动与设置</a:t>
            </a:r>
            <a:endParaRPr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description-0"/>
          <p:cNvSpPr>
            <a:spLocks noGrp="1"/>
          </p:cNvSpPr>
          <p:nvPr/>
        </p:nvSpPr>
        <p:spPr>
          <a:xfrm>
            <a:off x="3562350" y="1809750"/>
            <a:ext cx="79438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组织多个节点</a:t>
            </a:r>
            <a:r>
              <a:rPr lang="en-US" altLang="zh-CN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</a:t>
            </a:r>
            <a:r>
              <a:rPr lang="zh-CN" altLang="en-US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设置运行参数</a:t>
            </a:r>
            <a:endParaRPr lang="zh-CN" altLang="en-US"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row-rule-0"/>
          <p:cNvSpPr>
            <a:spLocks noGrp="1"/>
          </p:cNvSpPr>
          <p:nvPr/>
        </p:nvSpPr>
        <p:spPr>
          <a:xfrm>
            <a:off x="685800" y="2647950"/>
            <a:ext cx="10820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8" name="label-1"/>
          <p:cNvSpPr>
            <a:spLocks noGrp="1"/>
          </p:cNvSpPr>
          <p:nvPr/>
        </p:nvSpPr>
        <p:spPr>
          <a:xfrm>
            <a:off x="685800" y="3009900"/>
            <a:ext cx="2628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查看与排查</a:t>
            </a:r>
            <a:endParaRPr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description-1"/>
          <p:cNvSpPr>
            <a:spLocks noGrp="1"/>
          </p:cNvSpPr>
          <p:nvPr/>
        </p:nvSpPr>
        <p:spPr>
          <a:xfrm>
            <a:off x="3562350" y="3009900"/>
            <a:ext cx="79438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观察图像和指令，检查日志、录制数据</a:t>
            </a:r>
            <a:r>
              <a:rPr lang="en-US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，排查错误……</a:t>
            </a:r>
            <a:endParaRPr lang="en-US"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row-rule-1"/>
          <p:cNvSpPr>
            <a:spLocks noGrp="1"/>
          </p:cNvSpPr>
          <p:nvPr/>
        </p:nvSpPr>
        <p:spPr>
          <a:xfrm>
            <a:off x="685800" y="3848100"/>
            <a:ext cx="10820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11" name="label-2"/>
          <p:cNvSpPr>
            <a:spLocks noGrp="1"/>
          </p:cNvSpPr>
          <p:nvPr/>
        </p:nvSpPr>
        <p:spPr>
          <a:xfrm>
            <a:off x="685800" y="4210050"/>
            <a:ext cx="2628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复用已有功能</a:t>
            </a:r>
            <a:endParaRPr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description-2"/>
          <p:cNvSpPr>
            <a:spLocks noGrp="1"/>
          </p:cNvSpPr>
          <p:nvPr/>
        </p:nvSpPr>
        <p:spPr>
          <a:xfrm>
            <a:off x="3562350" y="4210050"/>
            <a:ext cx="79438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选用</a:t>
            </a:r>
            <a:r>
              <a:rPr lang="en-US"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已经编写好的</a:t>
            </a:r>
            <a:r>
              <a:rPr sz="22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兼容的驱动、导航等软件包</a:t>
            </a:r>
            <a:endParaRPr sz="22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row-rule-2"/>
          <p:cNvSpPr>
            <a:spLocks noGrp="1"/>
          </p:cNvSpPr>
          <p:nvPr/>
        </p:nvSpPr>
        <p:spPr>
          <a:xfrm>
            <a:off x="685800" y="5048250"/>
            <a:ext cx="10820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16" name="row-rule-2"/>
          <p:cNvSpPr>
            <a:spLocks noGrp="1"/>
          </p:cNvSpPr>
          <p:nvPr/>
        </p:nvSpPr>
        <p:spPr>
          <a:xfrm>
            <a:off x="695325" y="6248400"/>
            <a:ext cx="108204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17" name="label-2"/>
          <p:cNvSpPr>
            <a:spLocks noGrp="1"/>
          </p:cNvSpPr>
          <p:nvPr/>
        </p:nvSpPr>
        <p:spPr>
          <a:xfrm>
            <a:off x="685800" y="5445125"/>
            <a:ext cx="2628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lang="en-US" sz="24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……</a:t>
            </a:r>
            <a:endParaRPr lang="en-US" sz="24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itle"/>
          <p:cNvSpPr>
            <a:spLocks noGrp="1"/>
          </p:cNvSpPr>
          <p:nvPr/>
        </p:nvSpPr>
        <p:spPr>
          <a:xfrm>
            <a:off x="609600" y="4000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结束前的三个快问</a:t>
            </a:r>
            <a:endParaRPr sz="3300" b="1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200150"/>
            <a:ext cx="109728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5" name="number-0"/>
          <p:cNvSpPr>
            <a:spLocks noGrp="1"/>
          </p:cNvSpPr>
          <p:nvPr/>
        </p:nvSpPr>
        <p:spPr>
          <a:xfrm>
            <a:off x="704850" y="1790700"/>
            <a:ext cx="647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1</a:t>
            </a:r>
            <a:endParaRPr sz="33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6" name="question-0"/>
          <p:cNvSpPr>
            <a:spLocks noGrp="1"/>
          </p:cNvSpPr>
          <p:nvPr/>
        </p:nvSpPr>
        <p:spPr>
          <a:xfrm>
            <a:off x="1628775" y="1790700"/>
            <a:ext cx="98774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 </a:t>
            </a:r>
            <a:r>
              <a:rPr lang="zh-CN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是什么？如何理解</a:t>
            </a:r>
            <a:r>
              <a:rPr lang="en-US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</a:t>
            </a:r>
            <a:r>
              <a:rPr lang="zh-CN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作为“操作系统”？</a:t>
            </a:r>
            <a:endParaRPr lang="zh-CN" altLang="en-US" sz="25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number-1"/>
          <p:cNvSpPr>
            <a:spLocks noGrp="1"/>
          </p:cNvSpPr>
          <p:nvPr/>
        </p:nvSpPr>
        <p:spPr>
          <a:xfrm>
            <a:off x="704850" y="2962275"/>
            <a:ext cx="647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2</a:t>
            </a:r>
            <a:endParaRPr sz="33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question-1"/>
          <p:cNvSpPr>
            <a:spLocks noGrp="1"/>
          </p:cNvSpPr>
          <p:nvPr/>
        </p:nvSpPr>
        <p:spPr>
          <a:xfrm>
            <a:off x="1628775" y="2962275"/>
            <a:ext cx="98774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zh-CN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节点、话题、发布、订阅等重要基本概念都是什么？</a:t>
            </a:r>
            <a:endParaRPr lang="zh-CN" altLang="en-US" sz="25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9" name="number-2"/>
          <p:cNvSpPr>
            <a:spLocks noGrp="1"/>
          </p:cNvSpPr>
          <p:nvPr/>
        </p:nvSpPr>
        <p:spPr>
          <a:xfrm>
            <a:off x="704850" y="4133850"/>
            <a:ext cx="647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0000CC"/>
                </a:solidFill>
                <a:latin typeface="宋体"/>
                <a:ea typeface="宋体"/>
                <a:cs typeface="宋体"/>
              </a:defRPr>
            </a:pPr>
            <a:r>
              <a:rPr sz="3300" b="1">
                <a:solidFill>
                  <a:srgbClr val="0000CC"/>
                </a:solidFill>
                <a:latin typeface="宋体"/>
                <a:ea typeface="宋体"/>
                <a:cs typeface="宋体"/>
              </a:rPr>
              <a:t>3</a:t>
            </a:r>
            <a:endParaRPr sz="3300" b="1">
              <a:solidFill>
                <a:srgbClr val="0000CC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question-2"/>
          <p:cNvSpPr>
            <a:spLocks noGrp="1"/>
          </p:cNvSpPr>
          <p:nvPr/>
        </p:nvSpPr>
        <p:spPr>
          <a:xfrm>
            <a:off x="1628775" y="4133850"/>
            <a:ext cx="98774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000000"/>
                </a:solidFill>
                <a:latin typeface="宋体"/>
                <a:ea typeface="宋体"/>
                <a:cs typeface="宋体"/>
              </a:defRPr>
            </a:pPr>
            <a:r>
              <a:rPr lang="en-US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ROS </a:t>
            </a:r>
            <a:r>
              <a:rPr lang="zh-CN" altLang="en-US" sz="255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能帮助机器人软件做什么，哪些部分仍要自己编写？</a:t>
            </a:r>
            <a:endParaRPr lang="zh-CN" altLang="en-US" sz="2550" b="0">
              <a:solidFill>
                <a:srgbClr val="000000"/>
              </a:solidFill>
              <a:latin typeface="宋体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宋体"/>
        <a:ea typeface="宋体"/>
        <a:cs typeface="宋体"/>
      </a:majorFont>
      <a:minorFont>
        <a:latin typeface="宋体"/>
        <a:ea typeface="宋体"/>
        <a:cs typeface="宋体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宋体"/>
        <a:ea typeface="宋体"/>
        <a:cs typeface="宋体"/>
      </a:majorFont>
      <a:minorFont>
        <a:latin typeface="宋体"/>
        <a:ea typeface="宋体"/>
        <a:cs typeface="宋体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WPS Presentation</Application>
  <PresentationFormat>Converted Presentation</PresentationFormat>
  <Paragraphs>210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Arial Unicode MS</vt:lpstr>
      <vt:lpstr>Microsoft YaHei</vt:lpstr>
      <vt:lpstr>方正雅意黑 GB18030L2</vt:lpstr>
      <vt:lpstr>SimSun</vt:lpstr>
      <vt:lpstr>汉仪书宋二KW</vt:lpstr>
      <vt:lpstr>Calibri</vt:lpstr>
      <vt:lpstr>Helvetica Neue</vt:lpstr>
      <vt:lpstr>PingFang SC</vt:lpstr>
      <vt:lpstr>Times New Roman</vt:lpstr>
      <vt:lpstr>SimSong</vt:lpstr>
      <vt:lpstr>STSong</vt:lpstr>
      <vt:lpstr>FZBoYaSong</vt:lpstr>
      <vt:lpstr>FangSong_GB2312</vt:lpstr>
      <vt:lpstr>LiSong Pro</vt:lpstr>
      <vt:lpstr>FZBoYaSongS-GB</vt:lpstr>
      <vt:lpstr>HYShuSongErKW</vt:lpstr>
      <vt:lpstr>STFangsong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何梓烨</cp:lastModifiedBy>
  <cp:revision>5</cp:revision>
  <dcterms:created xsi:type="dcterms:W3CDTF">2026-10-08T12:19:38Z</dcterms:created>
  <dcterms:modified xsi:type="dcterms:W3CDTF">2026-10-08T12:19:38Z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DD23A8D595A8DDFD5A8AC76ADED73666_43</vt:lpwstr>
  </property>
</Properties>
</file>